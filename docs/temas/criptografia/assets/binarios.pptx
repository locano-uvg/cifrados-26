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7" r:id="rId3"/>
    <p:sldId id="260" r:id="rId4"/>
    <p:sldId id="295" r:id="rId5"/>
    <p:sldId id="296" r:id="rId6"/>
    <p:sldId id="298" r:id="rId7"/>
    <p:sldId id="299" r:id="rId8"/>
    <p:sldId id="263" r:id="rId9"/>
    <p:sldId id="297" r:id="rId10"/>
    <p:sldId id="301" r:id="rId11"/>
    <p:sldId id="302" r:id="rId12"/>
    <p:sldId id="325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6" r:id="rId23"/>
    <p:sldId id="312" r:id="rId24"/>
    <p:sldId id="315" r:id="rId25"/>
    <p:sldId id="313" r:id="rId26"/>
    <p:sldId id="314" r:id="rId27"/>
    <p:sldId id="317" r:id="rId28"/>
    <p:sldId id="319" r:id="rId29"/>
    <p:sldId id="320" r:id="rId30"/>
    <p:sldId id="322" r:id="rId31"/>
    <p:sldId id="321" r:id="rId32"/>
    <p:sldId id="323" r:id="rId33"/>
    <p:sldId id="324" r:id="rId34"/>
  </p:sldIdLst>
  <p:sldSz cx="12192000" cy="6858000"/>
  <p:notesSz cx="6858000" cy="9144000"/>
  <p:defaultTextStyle>
    <a:defPPr>
      <a:defRPr lang="en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/>
    <p:restoredTop sz="94762"/>
  </p:normalViewPr>
  <p:slideViewPr>
    <p:cSldViewPr snapToGrid="0">
      <p:cViewPr varScale="1">
        <p:scale>
          <a:sx n="84" d="100"/>
          <a:sy n="84" d="100"/>
        </p:scale>
        <p:origin x="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dwing Cano" userId="9ce32dd838aadf05" providerId="LiveId" clId="{5D3D0B4B-5837-C649-A712-F389D0D556D6}"/>
    <pc:docChg chg="addSld modSld">
      <pc:chgData name="Ludwing Cano" userId="9ce32dd838aadf05" providerId="LiveId" clId="{5D3D0B4B-5837-C649-A712-F389D0D556D6}" dt="2025-01-20T02:27:28.680" v="26" actId="20577"/>
      <pc:docMkLst>
        <pc:docMk/>
      </pc:docMkLst>
      <pc:sldChg chg="modSp mod">
        <pc:chgData name="Ludwing Cano" userId="9ce32dd838aadf05" providerId="LiveId" clId="{5D3D0B4B-5837-C649-A712-F389D0D556D6}" dt="2025-01-20T02:27:10.935" v="2" actId="20577"/>
        <pc:sldMkLst>
          <pc:docMk/>
          <pc:sldMk cId="2416523706" sldId="302"/>
        </pc:sldMkLst>
        <pc:spChg chg="mod">
          <ac:chgData name="Ludwing Cano" userId="9ce32dd838aadf05" providerId="LiveId" clId="{5D3D0B4B-5837-C649-A712-F389D0D556D6}" dt="2025-01-20T02:27:10.935" v="2" actId="20577"/>
          <ac:spMkLst>
            <pc:docMk/>
            <pc:sldMk cId="2416523706" sldId="302"/>
            <ac:spMk id="50" creationId="{44227606-5F65-6C18-E5EE-B519A2E1A53F}"/>
          </ac:spMkLst>
        </pc:spChg>
      </pc:sldChg>
      <pc:sldChg chg="modSp add mod">
        <pc:chgData name="Ludwing Cano" userId="9ce32dd838aadf05" providerId="LiveId" clId="{5D3D0B4B-5837-C649-A712-F389D0D556D6}" dt="2025-01-20T02:27:28.680" v="26" actId="20577"/>
        <pc:sldMkLst>
          <pc:docMk/>
          <pc:sldMk cId="3835541475" sldId="325"/>
        </pc:sldMkLst>
        <pc:spChg chg="mod">
          <ac:chgData name="Ludwing Cano" userId="9ce32dd838aadf05" providerId="LiveId" clId="{5D3D0B4B-5837-C649-A712-F389D0D556D6}" dt="2025-01-20T02:27:28.680" v="26" actId="20577"/>
          <ac:spMkLst>
            <pc:docMk/>
            <pc:sldMk cId="3835541475" sldId="325"/>
            <ac:spMk id="50" creationId="{727E8F13-5069-88BC-94A6-A92803CA202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7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2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4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15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6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56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62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15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2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2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rful dotted wave of dots&#10;&#10;Description automatically generated with medium confidence">
            <a:extLst>
              <a:ext uri="{FF2B5EF4-FFF2-40B4-BE49-F238E27FC236}">
                <a16:creationId xmlns:a16="http://schemas.microsoft.com/office/drawing/2014/main" id="{25D8061D-ED06-78B5-2644-59D4099A2B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15" r="13685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AC90F-5DA4-525B-2D49-9909DC159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800" dirty="0" err="1"/>
              <a:t>Criptografía</a:t>
            </a:r>
            <a:endParaRPr lang="en-GT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0EF1E-79C4-72FE-90AC-E618F6A3C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en-US" sz="2000" dirty="0" err="1"/>
              <a:t>Continuación</a:t>
            </a:r>
            <a:r>
              <a:rPr lang="en-US" sz="2000" dirty="0"/>
              <a:t> </a:t>
            </a:r>
            <a:r>
              <a:rPr lang="en-US" sz="2000" dirty="0" err="1"/>
              <a:t>Cifrados</a:t>
            </a:r>
            <a:endParaRPr lang="en-US" sz="2000" dirty="0"/>
          </a:p>
          <a:p>
            <a:r>
              <a:rPr lang="en-US" sz="2000" dirty="0"/>
              <a:t>Ludwing Cano</a:t>
            </a:r>
            <a:endParaRPr lang="en-GT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UVG - Página principal">
            <a:extLst>
              <a:ext uri="{FF2B5EF4-FFF2-40B4-BE49-F238E27FC236}">
                <a16:creationId xmlns:a16="http://schemas.microsoft.com/office/drawing/2014/main" id="{4A48965C-B5EC-68B0-E469-3B6604AA3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174" y="5735637"/>
            <a:ext cx="1234825" cy="112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594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81C8A-8190-DB79-876E-D8ED5D8E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T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0514-E20E-CA06-F1B4-5461236D1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Crypto Sistema (Cryptosystem) </a:t>
            </a:r>
          </a:p>
          <a:p>
            <a:r>
              <a:rPr lang="en-US" dirty="0" err="1"/>
              <a:t>Lógica</a:t>
            </a:r>
            <a:r>
              <a:rPr lang="en-US" dirty="0"/>
              <a:t> </a:t>
            </a:r>
            <a:r>
              <a:rPr lang="en-US" dirty="0" err="1"/>
              <a:t>Booleana</a:t>
            </a:r>
            <a:endParaRPr lang="en-US" dirty="0"/>
          </a:p>
          <a:p>
            <a:r>
              <a:rPr lang="en-US" dirty="0"/>
              <a:t>OTP</a:t>
            </a:r>
          </a:p>
          <a:p>
            <a:r>
              <a:rPr lang="en-US" dirty="0"/>
              <a:t>Bites</a:t>
            </a:r>
          </a:p>
          <a:p>
            <a:r>
              <a:rPr lang="en-US" dirty="0"/>
              <a:t>Base 64</a:t>
            </a:r>
          </a:p>
          <a:p>
            <a:r>
              <a:rPr lang="en-US" dirty="0"/>
              <a:t>XOR</a:t>
            </a:r>
            <a:endParaRPr lang="en-GT" dirty="0"/>
          </a:p>
        </p:txBody>
      </p:sp>
      <p:pic>
        <p:nvPicPr>
          <p:cNvPr id="4" name="Picture 2" descr="UVG - Página principal">
            <a:extLst>
              <a:ext uri="{FF2B5EF4-FFF2-40B4-BE49-F238E27FC236}">
                <a16:creationId xmlns:a16="http://schemas.microsoft.com/office/drawing/2014/main" id="{BC0AF8CA-7C73-7758-1CC9-1D83638D6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174" y="5735637"/>
            <a:ext cx="1234825" cy="112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788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BB467F-860A-10E6-BFF3-0CF3E7D57C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1" r="54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861BE-DDD4-4EEA-DCB3-16A71B4F6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Crypto Sistema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29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5BC7E-CEF5-91DB-FAA0-7781C35BA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ED53C66B-901B-B8E3-5F89-71A9F977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Cryptosystem</a:t>
            </a:r>
            <a:endParaRPr lang="es-ES_tradnl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6D4033F7-B091-9246-1395-7873E02F3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 dirty="0"/>
              <a:t>Un criptosistema es un conjunto de 5 elementos (P,C,K,E,D) donde cumplen:</a:t>
            </a:r>
          </a:p>
          <a:p>
            <a:endParaRPr lang="es-ES_tradnl" sz="2000" b="1" dirty="0"/>
          </a:p>
          <a:p>
            <a:r>
              <a:rPr lang="es-ES_tradnl" sz="2000" b="1" dirty="0"/>
              <a:t>P </a:t>
            </a:r>
            <a:r>
              <a:rPr lang="es-ES_tradnl" sz="2000" dirty="0"/>
              <a:t>es un set finito de posibles textos planos</a:t>
            </a:r>
          </a:p>
          <a:p>
            <a:r>
              <a:rPr lang="es-ES_tradnl" sz="2000" b="1" dirty="0"/>
              <a:t>C</a:t>
            </a:r>
            <a:r>
              <a:rPr lang="es-ES_tradnl" sz="2000" dirty="0"/>
              <a:t> es un set finito de posibles textos cifrados</a:t>
            </a:r>
          </a:p>
          <a:p>
            <a:r>
              <a:rPr lang="es-ES_tradnl" sz="2000" b="1" dirty="0"/>
              <a:t>K</a:t>
            </a:r>
            <a:r>
              <a:rPr lang="es-ES_tradnl" sz="2000" dirty="0"/>
              <a:t>, es el tamaño de la llave y es un set finito</a:t>
            </a:r>
          </a:p>
          <a:p>
            <a:endParaRPr lang="es-ES_tradnl" sz="2000" dirty="0"/>
          </a:p>
          <a:p>
            <a:endParaRPr lang="es-ES_tradnl" sz="2000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15919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523F8-065C-933C-ED50-282E9316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04FC76B4-2972-9570-569F-AD255286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Cryptosystem</a:t>
            </a:r>
            <a:endParaRPr lang="es-ES_tradnl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92C3F864-1F55-1C69-4FD1-55A880E35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 dirty="0"/>
              <a:t>Por cada </a:t>
            </a:r>
            <a:r>
              <a:rPr lang="es-ES_tradnl" sz="2000" b="1" dirty="0"/>
              <a:t>k </a:t>
            </a:r>
            <a:r>
              <a:rPr lang="es-ES_tradnl" sz="2000" dirty="0"/>
              <a:t>que pertenezca al conjunto de llaves existe una función de encriptado </a:t>
            </a:r>
            <a:r>
              <a:rPr lang="es-ES_tradnl" sz="2000" b="1" dirty="0"/>
              <a:t>(e)</a:t>
            </a:r>
            <a:r>
              <a:rPr lang="es-ES_tradnl" sz="2000" dirty="0"/>
              <a:t>, así como desencriptado </a:t>
            </a:r>
            <a:r>
              <a:rPr lang="es-ES_tradnl" sz="2000" b="1" dirty="0"/>
              <a:t>(d)</a:t>
            </a:r>
            <a:r>
              <a:rPr lang="es-ES_tradnl" sz="2000" dirty="0"/>
              <a:t>.</a:t>
            </a:r>
          </a:p>
          <a:p>
            <a:r>
              <a:rPr lang="es-ES_tradnl" sz="2000" dirty="0"/>
              <a:t>Existe una regla que cada función de encriptado utiliza una llave y cada función de desencriptado necesita la misma llave para poder cumplir que </a:t>
            </a:r>
          </a:p>
          <a:p>
            <a:pPr marL="0" indent="0" algn="ctr">
              <a:buNone/>
            </a:pPr>
            <a:r>
              <a:rPr lang="es-ES_tradnl" sz="2000" b="1" dirty="0" err="1"/>
              <a:t>e</a:t>
            </a:r>
            <a:r>
              <a:rPr lang="es-ES_tradnl" sz="2000" dirty="0" err="1"/>
              <a:t>k</a:t>
            </a:r>
            <a:r>
              <a:rPr lang="es-ES_tradnl" sz="2000" dirty="0"/>
              <a:t> : P-&gt;C</a:t>
            </a:r>
          </a:p>
          <a:p>
            <a:pPr marL="0" indent="0" algn="ctr">
              <a:buNone/>
            </a:pPr>
            <a:r>
              <a:rPr lang="es-ES_tradnl" sz="2000" b="1" dirty="0" err="1"/>
              <a:t>d</a:t>
            </a:r>
            <a:r>
              <a:rPr lang="es-ES_tradnl" sz="2000" dirty="0" err="1"/>
              <a:t>k</a:t>
            </a:r>
            <a:r>
              <a:rPr lang="es-ES_tradnl" sz="2000" dirty="0"/>
              <a:t> :C -&gt;P</a:t>
            </a:r>
          </a:p>
        </p:txBody>
      </p:sp>
    </p:spTree>
    <p:extLst>
      <p:ext uri="{BB962C8B-B14F-4D97-AF65-F5344CB8AC3E}">
        <p14:creationId xmlns:p14="http://schemas.microsoft.com/office/powerpoint/2010/main" val="132918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A25B-EFD6-7BD1-2C40-1CD5F59D7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34B4E3-8E3C-7E33-2A80-390F99CC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dirty="0" err="1"/>
              <a:t>Lógica</a:t>
            </a:r>
            <a:r>
              <a:rPr lang="en-US" sz="7200" dirty="0"/>
              <a:t> </a:t>
            </a:r>
            <a:r>
              <a:rPr lang="en-US" sz="7200" dirty="0" err="1"/>
              <a:t>Booleana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0908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FB732-155B-7F78-7688-4702874F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9BF09F8A-DB84-5204-2A83-A92358102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95466"/>
            <a:ext cx="3538728" cy="1536192"/>
          </a:xfrm>
        </p:spPr>
        <p:txBody>
          <a:bodyPr>
            <a:normAutofit/>
          </a:bodyPr>
          <a:lstStyle/>
          <a:p>
            <a:r>
              <a:rPr lang="en-US" sz="3200" dirty="0" err="1"/>
              <a:t>Lógica</a:t>
            </a:r>
            <a:r>
              <a:rPr lang="en-US" sz="3200" dirty="0"/>
              <a:t> </a:t>
            </a:r>
            <a:r>
              <a:rPr lang="en-US" sz="3200" dirty="0" err="1"/>
              <a:t>Booleana</a:t>
            </a:r>
            <a:endParaRPr lang="es-ES_tradnl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7B8366-63D9-6D14-2129-78B7917AC4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600"/>
          <a:stretch/>
        </p:blipFill>
        <p:spPr>
          <a:xfrm>
            <a:off x="20" y="10"/>
            <a:ext cx="12191980" cy="3994473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525899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28A4E83C-C9D5-5CE3-82B6-AFA6D6570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9240" y="4495466"/>
            <a:ext cx="6007608" cy="1536192"/>
          </a:xfrm>
        </p:spPr>
        <p:txBody>
          <a:bodyPr anchor="ctr">
            <a:normAutofit/>
          </a:bodyPr>
          <a:lstStyle/>
          <a:p>
            <a:r>
              <a:rPr lang="es-ES_tradnl" sz="1800" dirty="0"/>
              <a:t>Podemos observar las tablas de verdad las cuales poseen inputs en la izquierda y outputs en la derecha</a:t>
            </a:r>
          </a:p>
        </p:txBody>
      </p:sp>
    </p:spTree>
    <p:extLst>
      <p:ext uri="{BB962C8B-B14F-4D97-AF65-F5344CB8AC3E}">
        <p14:creationId xmlns:p14="http://schemas.microsoft.com/office/powerpoint/2010/main" val="3057210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B15600-9CF0-F228-6DA3-D8EAE7655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dirty="0"/>
              <a:t>One-time Pad (OTP)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824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B492B-D97F-ED89-247C-26A6E1B8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D3FCDF54-1936-7B3B-5D91-EA5D8F784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OTP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ontent Placeholder 49">
                <a:extLst>
                  <a:ext uri="{FF2B5EF4-FFF2-40B4-BE49-F238E27FC236}">
                    <a16:creationId xmlns:a16="http://schemas.microsoft.com/office/drawing/2014/main" id="{121E195E-5854-1A78-9738-7005908EC7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3466" y="2622604"/>
                <a:ext cx="9637439" cy="3473395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s-ES_tradnl" sz="2000" dirty="0"/>
                  <a:t>Para cada cifrado existe un mensaje donde la llave debe ser la misma longitud del mensaje.</a:t>
                </a:r>
              </a:p>
              <a:p>
                <a:endParaRPr lang="es-ES_tradnl" sz="2000" dirty="0"/>
              </a:p>
              <a:p>
                <a:r>
                  <a:rPr lang="es-ES_tradnl" sz="2000" dirty="0"/>
                  <a:t>Encriptar</a:t>
                </a:r>
              </a:p>
              <a:p>
                <a:pPr marL="0" indent="0" algn="ctr">
                  <a:buNone/>
                </a:pPr>
                <a:r>
                  <a:rPr lang="es-ES_tradnl" b="1" dirty="0"/>
                  <a:t>c = E(</a:t>
                </a:r>
                <a:r>
                  <a:rPr lang="es-ES_tradnl" b="1" dirty="0" err="1"/>
                  <a:t>k,m</a:t>
                </a:r>
                <a:r>
                  <a:rPr lang="es-ES_tradnl" b="1" dirty="0"/>
                  <a:t>) = k </a:t>
                </a:r>
                <a14:m>
                  <m:oMath xmlns:m="http://schemas.openxmlformats.org/officeDocument/2006/math">
                    <m:r>
                      <a:rPr lang="es-ES_tradnl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s-ES_tradnl" b="1" dirty="0"/>
                  <a:t> m</a:t>
                </a:r>
              </a:p>
              <a:p>
                <a:r>
                  <a:rPr lang="es-ES_tradnl" sz="2000" dirty="0"/>
                  <a:t>Desencriptar</a:t>
                </a:r>
              </a:p>
              <a:p>
                <a:pPr marL="0" indent="0" algn="ctr">
                  <a:buNone/>
                </a:pPr>
                <a:r>
                  <a:rPr lang="es-ES_tradnl" b="1" dirty="0"/>
                  <a:t>m = D(</a:t>
                </a:r>
                <a:r>
                  <a:rPr lang="es-ES_tradnl" b="1" dirty="0" err="1"/>
                  <a:t>k,c</a:t>
                </a:r>
                <a:r>
                  <a:rPr lang="es-ES_tradnl" b="1" dirty="0"/>
                  <a:t>) = k </a:t>
                </a:r>
                <a14:m>
                  <m:oMath xmlns:m="http://schemas.openxmlformats.org/officeDocument/2006/math">
                    <m:r>
                      <a:rPr lang="es-ES_tradnl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s-ES_tradnl" b="1" dirty="0"/>
                  <a:t> c</a:t>
                </a:r>
              </a:p>
              <a:p>
                <a:pPr marL="0" indent="0" algn="ctr">
                  <a:buNone/>
                </a:pPr>
                <a:endParaRPr lang="es-ES_tradnl" b="1" dirty="0"/>
              </a:p>
              <a:p>
                <a:pPr marL="0" indent="0" algn="ctr">
                  <a:buNone/>
                </a:pPr>
                <a:r>
                  <a:rPr lang="en-US" i="1" dirty="0">
                    <a:effectLst/>
                    <a:latin typeface="Helvetica" pitchFamily="2" charset="0"/>
                  </a:rPr>
                  <a:t>D(k, </a:t>
                </a:r>
                <a:r>
                  <a:rPr lang="en-US" i="1" dirty="0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E(</a:t>
                </a:r>
                <a:r>
                  <a:rPr lang="en-US" i="1" dirty="0" err="1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k,m</a:t>
                </a:r>
                <a:r>
                  <a:rPr lang="en-US" i="1" dirty="0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)</a:t>
                </a:r>
                <a:r>
                  <a:rPr lang="en-US" i="1" dirty="0">
                    <a:effectLst/>
                    <a:latin typeface="Helvetica" pitchFamily="2" charset="0"/>
                  </a:rPr>
                  <a:t>) </a:t>
                </a:r>
                <a:r>
                  <a:rPr lang="en-US" i="1" dirty="0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= D(k,</a:t>
                </a:r>
                <a:r>
                  <a:rPr lang="en-US" i="1" dirty="0">
                    <a:effectLst/>
                    <a:latin typeface="Helvetica" pitchFamily="2" charset="0"/>
                  </a:rPr>
                  <a:t> </a:t>
                </a:r>
                <a:r>
                  <a:rPr lang="en-US" i="1" dirty="0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k </a:t>
                </a:r>
                <a14:m>
                  <m:oMath xmlns:m="http://schemas.openxmlformats.org/officeDocument/2006/math">
                    <m:r>
                      <a:rPr lang="es-ES_tradnl" b="1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 </m:t>
                    </m:r>
                  </m:oMath>
                </a14:m>
                <a:r>
                  <a:rPr lang="en-US" i="1" dirty="0">
                    <a:solidFill>
                      <a:schemeClr val="accent2"/>
                    </a:solidFill>
                    <a:effectLst/>
                    <a:latin typeface="Helvetica" pitchFamily="2" charset="0"/>
                  </a:rPr>
                  <a:t>m</a:t>
                </a:r>
                <a:r>
                  <a:rPr lang="en-US" i="1" dirty="0">
                    <a:effectLst/>
                    <a:latin typeface="Helvetica" pitchFamily="2" charset="0"/>
                  </a:rPr>
                  <a:t>) </a:t>
                </a:r>
                <a:r>
                  <a:rPr lang="en-US" i="1" dirty="0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= k </a:t>
                </a:r>
                <a14:m>
                  <m:oMath xmlns:m="http://schemas.openxmlformats.org/officeDocument/2006/math">
                    <m:r>
                      <a:rPr lang="es-ES_tradnl" b="1" i="1" dirty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i="1" dirty="0">
                    <a:solidFill>
                      <a:srgbClr val="92D050"/>
                    </a:solidFill>
                    <a:effectLst/>
                    <a:latin typeface="Helvetica" pitchFamily="2" charset="0"/>
                  </a:rPr>
                  <a:t> </a:t>
                </a:r>
                <a:r>
                  <a:rPr lang="en-US" i="1" dirty="0">
                    <a:effectLst/>
                    <a:latin typeface="Helvetica" pitchFamily="2" charset="0"/>
                  </a:rPr>
                  <a:t>(k</a:t>
                </a:r>
                <a:r>
                  <a:rPr lang="es-ES_tradnl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i="1" dirty="0">
                    <a:effectLst/>
                    <a:latin typeface="Helvetica" pitchFamily="2" charset="0"/>
                  </a:rPr>
                  <a:t> m) = (k</a:t>
                </a:r>
                <a:r>
                  <a:rPr lang="es-ES_tradnl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 </m:t>
                    </m:r>
                  </m:oMath>
                </a14:m>
                <a:r>
                  <a:rPr lang="en-US" i="1" dirty="0">
                    <a:effectLst/>
                    <a:latin typeface="Helvetica" pitchFamily="2" charset="0"/>
                  </a:rPr>
                  <a:t>k)</a:t>
                </a:r>
                <a:r>
                  <a:rPr lang="es-ES_tradnl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 </m:t>
                    </m:r>
                  </m:oMath>
                </a14:m>
                <a:r>
                  <a:rPr lang="en-US" i="1" dirty="0">
                    <a:effectLst/>
                    <a:latin typeface="Helvetica" pitchFamily="2" charset="0"/>
                  </a:rPr>
                  <a:t>m = m</a:t>
                </a:r>
                <a:endParaRPr lang="en-US" dirty="0">
                  <a:effectLst/>
                  <a:latin typeface="Helvetica" pitchFamily="2" charset="0"/>
                </a:endParaRPr>
              </a:p>
              <a:p>
                <a:pPr marL="0" indent="0" algn="ctr">
                  <a:buNone/>
                </a:pPr>
                <a:endParaRPr lang="es-ES_tradnl" b="1" dirty="0"/>
              </a:p>
            </p:txBody>
          </p:sp>
        </mc:Choice>
        <mc:Fallback xmlns="">
          <p:sp>
            <p:nvSpPr>
              <p:cNvPr id="50" name="Content Placeholder 49">
                <a:extLst>
                  <a:ext uri="{FF2B5EF4-FFF2-40B4-BE49-F238E27FC236}">
                    <a16:creationId xmlns:a16="http://schemas.microsoft.com/office/drawing/2014/main" id="{121E195E-5854-1A78-9738-7005908EC7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466" y="2622604"/>
                <a:ext cx="9637439" cy="3473395"/>
              </a:xfrm>
              <a:blipFill>
                <a:blip r:embed="rId2"/>
                <a:stretch>
                  <a:fillRect l="-395" t="-7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150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059BB-E9DB-3022-048F-71C547708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C807CAC7-22F2-1A86-08EA-CE466660C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r>
              <a:rPr lang="en-US" dirty="0"/>
              <a:t> OTP</a:t>
            </a:r>
            <a:endParaRPr lang="es-ES_tradnl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DFF93C9D-B308-7C7A-F314-B6059400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effectLst/>
              <a:latin typeface="Helvetica" pitchFamily="2" charset="0"/>
            </a:endParaRPr>
          </a:p>
          <a:p>
            <a:pPr marL="0" indent="0" algn="ctr">
              <a:buNone/>
            </a:pPr>
            <a:endParaRPr lang="es-ES_tradnl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C6F4F3-A524-07B6-6398-044C3FF6AE0C}"/>
              </a:ext>
            </a:extLst>
          </p:cNvPr>
          <p:cNvGraphicFramePr>
            <a:graphicFrameLocks noGrp="1"/>
          </p:cNvGraphicFramePr>
          <p:nvPr/>
        </p:nvGraphicFramePr>
        <p:xfrm>
          <a:off x="1368185" y="2687320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5596856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95055264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82871229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77713344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781621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318611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61210352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873690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89455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324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978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621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943423"/>
                  </a:ext>
                </a:extLst>
              </a:tr>
            </a:tbl>
          </a:graphicData>
        </a:graphic>
      </p:graphicFrame>
      <p:sp>
        <p:nvSpPr>
          <p:cNvPr id="3" name="Content Placeholder 49">
            <a:extLst>
              <a:ext uri="{FF2B5EF4-FFF2-40B4-BE49-F238E27FC236}">
                <a16:creationId xmlns:a16="http://schemas.microsoft.com/office/drawing/2014/main" id="{DFA6E3B5-1B14-94CF-BC0D-1C17126B5CE7}"/>
              </a:ext>
            </a:extLst>
          </p:cNvPr>
          <p:cNvSpPr txBox="1">
            <a:spLocks/>
          </p:cNvSpPr>
          <p:nvPr/>
        </p:nvSpPr>
        <p:spPr>
          <a:xfrm>
            <a:off x="847753" y="5158812"/>
            <a:ext cx="9637439" cy="937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2000" dirty="0"/>
              <a:t>¿Si poseemos el mensaje m y el cifrado c, es posible realizar un OTP por medio de fuerza bruta? </a:t>
            </a:r>
            <a:r>
              <a:rPr lang="es-ES_tradnl" sz="2000" b="1" dirty="0"/>
              <a:t>(investigación)</a:t>
            </a:r>
            <a:endParaRPr lang="es-ES_tradnl" b="1" dirty="0"/>
          </a:p>
        </p:txBody>
      </p:sp>
    </p:spTree>
    <p:extLst>
      <p:ext uri="{BB962C8B-B14F-4D97-AF65-F5344CB8AC3E}">
        <p14:creationId xmlns:p14="http://schemas.microsoft.com/office/powerpoint/2010/main" val="280119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FF76D-84B8-39C0-AE7D-91E9C530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CF7B9329-5959-C917-3169-670C34B4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OTP</a:t>
            </a:r>
            <a:endParaRPr lang="es-ES_tradnl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44227606-5F65-6C18-E5EE-B519A2E1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 dirty="0"/>
              <a:t>El algoritmo de OTP rara vez resulta práctica.</a:t>
            </a:r>
          </a:p>
          <a:p>
            <a:r>
              <a:rPr lang="es-ES_tradnl" sz="2000" dirty="0"/>
              <a:t>Debido a que las llaves son muy grandes.</a:t>
            </a:r>
          </a:p>
          <a:p>
            <a:r>
              <a:rPr lang="es-ES_tradnl" sz="2000" dirty="0"/>
              <a:t>¿Consideran que es seguro?</a:t>
            </a:r>
          </a:p>
        </p:txBody>
      </p:sp>
    </p:spTree>
    <p:extLst>
      <p:ext uri="{BB962C8B-B14F-4D97-AF65-F5344CB8AC3E}">
        <p14:creationId xmlns:p14="http://schemas.microsoft.com/office/powerpoint/2010/main" val="2416523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73404-68B2-38EC-8FB5-27B3D9FD5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9F6C6F59-F61C-225D-E02E-A9F68C69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OTP</a:t>
            </a:r>
            <a:endParaRPr lang="es-ES_tradnl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727E8F13-5069-88BC-94A6-A92803CA2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 dirty="0"/>
              <a:t>¿Consideran que es seguro? </a:t>
            </a:r>
          </a:p>
          <a:p>
            <a:pPr lvl="1"/>
            <a:r>
              <a:rPr lang="es-ES_tradnl" sz="1600" dirty="0"/>
              <a:t>Nos brinda un perfecto uso del secreto</a:t>
            </a:r>
          </a:p>
          <a:p>
            <a:pPr lvl="1"/>
            <a:r>
              <a:rPr lang="es-ES_tradnl" sz="1600" dirty="0"/>
              <a:t>Es muy rápida de encriptar y desencriptar</a:t>
            </a:r>
          </a:p>
          <a:p>
            <a:pPr lvl="1"/>
            <a:r>
              <a:rPr lang="es-ES_tradnl" sz="1600" dirty="0"/>
              <a:t>La mayoría de los </a:t>
            </a:r>
            <a:r>
              <a:rPr lang="es-ES_tradnl" sz="1600" dirty="0" err="1"/>
              <a:t>stream</a:t>
            </a:r>
            <a:r>
              <a:rPr lang="es-ES_tradnl" sz="1600" dirty="0"/>
              <a:t> </a:t>
            </a:r>
            <a:r>
              <a:rPr lang="es-ES_tradnl" sz="1600" dirty="0" err="1"/>
              <a:t>ciphers</a:t>
            </a:r>
            <a:r>
              <a:rPr lang="es-ES_tradnl" sz="1600" dirty="0"/>
              <a:t> tratan de replicar el </a:t>
            </a:r>
            <a:r>
              <a:rPr lang="es-ES_tradnl" sz="1600" dirty="0" err="1"/>
              <a:t>one</a:t>
            </a:r>
            <a:r>
              <a:rPr lang="es-ES_tradnl" sz="1600" dirty="0"/>
              <a:t>-time </a:t>
            </a:r>
            <a:r>
              <a:rPr lang="es-ES_tradnl" sz="1600" dirty="0" err="1"/>
              <a:t>pad</a:t>
            </a:r>
            <a:endParaRPr lang="es-ES_tradnl" sz="1600" dirty="0"/>
          </a:p>
        </p:txBody>
      </p:sp>
    </p:spTree>
    <p:extLst>
      <p:ext uri="{BB962C8B-B14F-4D97-AF65-F5344CB8AC3E}">
        <p14:creationId xmlns:p14="http://schemas.microsoft.com/office/powerpoint/2010/main" val="3835541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D6F08-BAAD-5BC3-86CF-3F7FF1605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055416-06E5-A529-BF63-03857673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dirty="0" err="1"/>
              <a:t>Representación</a:t>
            </a:r>
            <a:r>
              <a:rPr lang="en-US" sz="7200" dirty="0"/>
              <a:t> </a:t>
            </a:r>
            <a:r>
              <a:rPr lang="en-US" sz="7200" dirty="0" err="1"/>
              <a:t>binaria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720447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567A-EF0C-23A4-2CE8-38922490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B7544105-5C0E-3A75-DE21-4B9B41A4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Representación</a:t>
            </a:r>
            <a:r>
              <a:rPr lang="en-US" dirty="0"/>
              <a:t> </a:t>
            </a:r>
            <a:r>
              <a:rPr lang="en-US" dirty="0" err="1"/>
              <a:t>Binaria</a:t>
            </a:r>
            <a:endParaRPr lang="es-ES_tradnl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C9A0E563-D22E-B8FE-E5D3-E82D6B5AF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 dirty="0"/>
              <a:t>Sistema que utiliza dos dígitos, 0 y 1, para expresar información.</a:t>
            </a:r>
          </a:p>
          <a:p>
            <a:r>
              <a:rPr lang="es-ES_tradnl" sz="2000" dirty="0"/>
              <a:t>Cada dígito se llama "</a:t>
            </a:r>
            <a:r>
              <a:rPr lang="es-ES_tradnl" sz="2000" b="1" dirty="0"/>
              <a:t>bit</a:t>
            </a:r>
            <a:r>
              <a:rPr lang="es-ES_tradnl" sz="2000" dirty="0"/>
              <a:t>", que es la unidad más pequeña de información en la computación.</a:t>
            </a:r>
          </a:p>
          <a:p>
            <a:r>
              <a:rPr lang="es-ES_tradnl" sz="2000" dirty="0"/>
              <a:t>La representación binaria es fundamental en la informática dado que utilizan señales eléctricas para representar y procesar información de manera binaria.</a:t>
            </a:r>
          </a:p>
        </p:txBody>
      </p:sp>
    </p:spTree>
    <p:extLst>
      <p:ext uri="{BB962C8B-B14F-4D97-AF65-F5344CB8AC3E}">
        <p14:creationId xmlns:p14="http://schemas.microsoft.com/office/powerpoint/2010/main" val="449269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CB55-4667-AA91-4C20-57F2A4855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B55EC1-E0D7-C672-ED28-271758721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Bit..</a:t>
            </a:r>
          </a:p>
        </p:txBody>
      </p:sp>
      <p:pic>
        <p:nvPicPr>
          <p:cNvPr id="1026" name="Picture 2" descr="Dr Evil Maybe... Just a little bit...? Meme | Dr evil, Evil meme, Memes">
            <a:extLst>
              <a:ext uri="{FF2B5EF4-FFF2-40B4-BE49-F238E27FC236}">
                <a16:creationId xmlns:a16="http://schemas.microsoft.com/office/drawing/2014/main" id="{3A25F742-9A47-A195-C8EE-D4024C1F2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411" y="1737246"/>
            <a:ext cx="6041979" cy="3383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161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BC626-4C13-8FD2-F748-976497DD6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3C526AC2-B32E-2557-8BB6-9918FCC6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effectLst/>
              </a:rPr>
              <a:t>Bits y Bytes</a:t>
            </a:r>
            <a:endParaRPr lang="en-US" dirty="0">
              <a:effectLst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23EC264-DF9D-84B3-7B9C-3D291EE72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/>
              <a:t>Un bit </a:t>
            </a:r>
            <a:r>
              <a:rPr lang="es-ES_tradnl" sz="2000" b="1"/>
              <a:t>(binary digit) </a:t>
            </a:r>
            <a:r>
              <a:rPr lang="es-ES_tradnl" sz="2000"/>
              <a:t>es la unidad más básica y puede tomar el valor de </a:t>
            </a:r>
            <a:r>
              <a:rPr lang="es-ES_tradnl" sz="2000" b="1"/>
              <a:t>0 </a:t>
            </a:r>
            <a:r>
              <a:rPr lang="es-ES_tradnl" sz="2000"/>
              <a:t>o </a:t>
            </a:r>
            <a:r>
              <a:rPr lang="es-ES_tradnl" sz="2000" b="1"/>
              <a:t>1.</a:t>
            </a:r>
          </a:p>
          <a:p>
            <a:r>
              <a:rPr lang="es-ES_tradnl" sz="2000"/>
              <a:t>Un grupo de 8 bits forma un </a:t>
            </a:r>
            <a:r>
              <a:rPr lang="es-ES_tradnl" sz="2000" b="1"/>
              <a:t>byte</a:t>
            </a:r>
            <a:r>
              <a:rPr lang="es-ES_tradnl" sz="2000"/>
              <a:t>. Los bytes son comúnmente utilizados para representar caracteres en la codificación de caracteres, como </a:t>
            </a:r>
            <a:r>
              <a:rPr lang="es-ES_tradnl" sz="2000" b="1"/>
              <a:t>ASCII</a:t>
            </a:r>
            <a:r>
              <a:rPr lang="es-ES_tradnl" sz="2000"/>
              <a:t> o </a:t>
            </a:r>
            <a:r>
              <a:rPr lang="es-ES_tradnl" sz="2000" b="1"/>
              <a:t>Unicode</a:t>
            </a:r>
            <a:r>
              <a:rPr lang="es-ES_tradnl" sz="2000"/>
              <a:t>.</a:t>
            </a:r>
            <a:endParaRPr lang="es-ES_tradnl" sz="2000" dirty="0"/>
          </a:p>
        </p:txBody>
      </p:sp>
      <p:pic>
        <p:nvPicPr>
          <p:cNvPr id="4098" name="Picture 2" descr="Keshav's Blog: Bit vs Byte">
            <a:extLst>
              <a:ext uri="{FF2B5EF4-FFF2-40B4-BE49-F238E27FC236}">
                <a16:creationId xmlns:a16="http://schemas.microsoft.com/office/drawing/2014/main" id="{084E1ED3-98D4-80F6-B463-C5E452259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566" y="3984441"/>
            <a:ext cx="5336868" cy="273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11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39DC6-32A8-BCDC-BFDC-A2F6664C0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Rectangle 207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81" name="Rectangle 2080">
            <a:extLst>
              <a:ext uri="{FF2B5EF4-FFF2-40B4-BE49-F238E27FC236}">
                <a16:creationId xmlns:a16="http://schemas.microsoft.com/office/drawing/2014/main" id="{155D7866-985D-4D23-BF0E-72CA30F5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3A774B-F377-2DCE-BB25-D243915A0C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61" b="1148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83" name="Rectangle 208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731" y="4716089"/>
            <a:ext cx="6288261" cy="1573149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noFill/>
          </a:ln>
          <a:effectLst>
            <a:outerShdw blurRad="508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5E7B07F1-2F5C-0B35-98E6-A636DECD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9388" y="4907629"/>
            <a:ext cx="3212386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b="1">
                <a:solidFill>
                  <a:schemeClr val="bg1"/>
                </a:solidFill>
                <a:effectLst/>
              </a:rPr>
              <a:t>Tabla Ascii</a:t>
            </a:r>
            <a:endParaRPr lang="en-US" sz="2600">
              <a:solidFill>
                <a:schemeClr val="bg1"/>
              </a:solidFill>
              <a:effectLst/>
            </a:endParaRPr>
          </a:p>
        </p:txBody>
      </p:sp>
      <p:sp>
        <p:nvSpPr>
          <p:cNvPr id="2085" name="Rectangle 208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7962" y="5175711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7" name="Rectangle 208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722114" y="5495733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922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DFD9-5392-9E1F-023B-64C993A4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93ED7652-387C-B321-0666-EFDE7B31C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  <a:latin typeface="Söhne"/>
              </a:rPr>
              <a:t>Sistema de </a:t>
            </a:r>
            <a:r>
              <a:rPr lang="en-US" b="1" i="0" u="none" strike="noStrike" dirty="0" err="1">
                <a:effectLst/>
                <a:latin typeface="Söhne"/>
              </a:rPr>
              <a:t>Numeración</a:t>
            </a:r>
            <a:r>
              <a:rPr lang="en-US" b="1" i="0" u="none" strike="noStrike" dirty="0">
                <a:effectLst/>
                <a:latin typeface="Söhne"/>
              </a:rPr>
              <a:t> </a:t>
            </a:r>
            <a:r>
              <a:rPr lang="en-US" b="1" i="0" u="none" strike="noStrike" dirty="0" err="1">
                <a:effectLst/>
                <a:latin typeface="Söhne"/>
              </a:rPr>
              <a:t>Binario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ontent Placeholder 49">
                <a:extLst>
                  <a:ext uri="{FF2B5EF4-FFF2-40B4-BE49-F238E27FC236}">
                    <a16:creationId xmlns:a16="http://schemas.microsoft.com/office/drawing/2014/main" id="{B14CD526-878C-AB13-5AE9-3911CA6F92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3466" y="2622604"/>
                <a:ext cx="9637439" cy="347339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ES_tradnl" sz="2000" dirty="0"/>
                  <a:t>En el sistema binario, cada posición en un número representa una potencia de 2</a:t>
                </a:r>
              </a:p>
              <a:p>
                <a:r>
                  <a:rPr lang="es-ES_tradnl" sz="2000" dirty="0"/>
                  <a:t>Por ejemplo, en el número binario </a:t>
                </a:r>
                <a:r>
                  <a:rPr lang="es-ES_tradnl" sz="2000" b="1" dirty="0"/>
                  <a:t>"1101"</a:t>
                </a:r>
                <a:r>
                  <a:rPr lang="es-ES_tradnl" sz="2000" dirty="0"/>
                  <a:t>, </a:t>
                </a:r>
              </a:p>
              <a:p>
                <a:r>
                  <a:rPr lang="es-ES_tradnl" sz="2000" dirty="0"/>
                  <a:t>el primer dígito (de derecha a izquierda) es </a:t>
                </a:r>
                <a:r>
                  <a:rPr lang="es-ES_tradnl" sz="2000" b="1" dirty="0"/>
                  <a:t>1 *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s-ES_tradnl" sz="2000" b="1" dirty="0"/>
                  <a:t>) = 1</a:t>
                </a:r>
              </a:p>
              <a:p>
                <a:r>
                  <a:rPr lang="es-ES_tradnl" sz="2000" dirty="0"/>
                  <a:t>el segundo es </a:t>
                </a:r>
                <a:r>
                  <a:rPr lang="es-ES_tradnl" sz="2000" b="1" dirty="0"/>
                  <a:t>0 *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s-ES_tradnl" sz="2000" b="1" dirty="0"/>
                  <a:t>) = 0</a:t>
                </a:r>
              </a:p>
              <a:p>
                <a:r>
                  <a:rPr lang="es-ES_tradnl" sz="2000" dirty="0"/>
                  <a:t>el tercero es </a:t>
                </a:r>
                <a:r>
                  <a:rPr lang="es-ES_tradnl" sz="2000" b="1" dirty="0"/>
                  <a:t>1 *(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ES_tradnl" sz="2000" b="1" dirty="0"/>
                  <a:t>) = 4</a:t>
                </a:r>
              </a:p>
              <a:p>
                <a:r>
                  <a:rPr lang="es-ES_tradnl" sz="2000" dirty="0"/>
                  <a:t>el cuarto es </a:t>
                </a:r>
                <a:r>
                  <a:rPr lang="es-ES_tradnl" sz="2000" b="1" dirty="0"/>
                  <a:t>1 *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ES_tradnl" sz="2000" b="1" dirty="0"/>
                  <a:t>). = 8</a:t>
                </a:r>
              </a:p>
              <a:p>
                <a:r>
                  <a:rPr lang="es-ES_tradnl" sz="2000" dirty="0"/>
                  <a:t>Total = </a:t>
                </a:r>
                <a:r>
                  <a:rPr lang="es-ES_tradnl" sz="2000" b="1" dirty="0"/>
                  <a:t>13</a:t>
                </a:r>
              </a:p>
            </p:txBody>
          </p:sp>
        </mc:Choice>
        <mc:Fallback xmlns="">
          <p:sp>
            <p:nvSpPr>
              <p:cNvPr id="50" name="Content Placeholder 49">
                <a:extLst>
                  <a:ext uri="{FF2B5EF4-FFF2-40B4-BE49-F238E27FC236}">
                    <a16:creationId xmlns:a16="http://schemas.microsoft.com/office/drawing/2014/main" id="{B14CD526-878C-AB13-5AE9-3911CA6F92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466" y="2622604"/>
                <a:ext cx="9637439" cy="3473395"/>
              </a:xfrm>
              <a:blipFill>
                <a:blip r:embed="rId2"/>
                <a:stretch>
                  <a:fillRect l="-526" t="-727" r="-65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716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44DB0-2ADE-3577-3FE3-453ACE9BB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57F7F591-5F50-BD8F-D3CC-51F1581B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 err="1">
                <a:effectLst/>
                <a:latin typeface="Söhne"/>
              </a:rPr>
              <a:t>Conversión</a:t>
            </a:r>
            <a:r>
              <a:rPr lang="en-US" b="1" i="0" u="none" strike="noStrike" dirty="0">
                <a:effectLst/>
                <a:latin typeface="Söhne"/>
              </a:rPr>
              <a:t> de Decimal a </a:t>
            </a:r>
            <a:r>
              <a:rPr lang="en-US" b="1" i="0" u="none" strike="noStrike" dirty="0" err="1">
                <a:effectLst/>
                <a:latin typeface="Söhne"/>
              </a:rPr>
              <a:t>Binario</a:t>
            </a:r>
            <a:r>
              <a:rPr lang="en-US" b="1" i="0" u="none" strike="noStrike" dirty="0">
                <a:effectLst/>
                <a:latin typeface="Söhne"/>
              </a:rPr>
              <a:t>:</a:t>
            </a:r>
            <a:endParaRPr lang="es-ES_tradnl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ACA4B93E-158B-1302-CE6A-89F698DBA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 dirty="0"/>
              <a:t>Para convertir un número decimal a binario, se divide el número por 2 sucesivamente y se registra el residuo en cada paso.</a:t>
            </a:r>
          </a:p>
          <a:p>
            <a:r>
              <a:rPr lang="es-ES_tradnl" sz="2000" b="1" dirty="0"/>
              <a:t>13 ÷ 2 = 6, </a:t>
            </a:r>
            <a:r>
              <a:rPr lang="es-ES_tradnl" sz="2000" dirty="0"/>
              <a:t>residuo</a:t>
            </a:r>
            <a:r>
              <a:rPr lang="es-ES_tradnl" sz="2000" b="1" dirty="0"/>
              <a:t> 1</a:t>
            </a:r>
          </a:p>
          <a:p>
            <a:r>
              <a:rPr lang="es-ES_tradnl" sz="2000" b="1" dirty="0"/>
              <a:t> 6 ÷ 2 = 3, </a:t>
            </a:r>
            <a:r>
              <a:rPr lang="es-ES_tradnl" sz="2000" dirty="0"/>
              <a:t>residuo</a:t>
            </a:r>
            <a:r>
              <a:rPr lang="es-ES_tradnl" sz="2000" b="1" dirty="0"/>
              <a:t> 0</a:t>
            </a:r>
          </a:p>
          <a:p>
            <a:r>
              <a:rPr lang="es-ES_tradnl" sz="2000" b="1" dirty="0"/>
              <a:t> 3 ÷ 2 = 1, </a:t>
            </a:r>
            <a:r>
              <a:rPr lang="es-ES_tradnl" sz="2000" dirty="0"/>
              <a:t>residuo</a:t>
            </a:r>
            <a:r>
              <a:rPr lang="es-ES_tradnl" sz="2000" b="1" dirty="0"/>
              <a:t> 1</a:t>
            </a:r>
          </a:p>
          <a:p>
            <a:r>
              <a:rPr lang="es-ES_tradnl" sz="2000" b="1" dirty="0"/>
              <a:t> 1 ÷ 2 = 0, </a:t>
            </a:r>
            <a:r>
              <a:rPr lang="es-ES_tradnl" sz="2000" dirty="0"/>
              <a:t>residuo</a:t>
            </a:r>
            <a:r>
              <a:rPr lang="es-ES_tradnl" sz="2000" b="1" dirty="0"/>
              <a:t> 1</a:t>
            </a:r>
            <a:br>
              <a:rPr lang="es-ES_tradnl" sz="2000" b="1" dirty="0"/>
            </a:br>
            <a:endParaRPr lang="es-ES_tradnl" sz="2000" b="1" dirty="0"/>
          </a:p>
          <a:p>
            <a:r>
              <a:rPr lang="es-ES_tradnl" sz="2000" dirty="0"/>
              <a:t>Entonces, </a:t>
            </a:r>
            <a:r>
              <a:rPr lang="es-ES_tradnl" sz="2000" b="1" dirty="0"/>
              <a:t>13</a:t>
            </a:r>
            <a:r>
              <a:rPr lang="es-ES_tradnl" sz="2000" dirty="0"/>
              <a:t> en binario es "</a:t>
            </a:r>
            <a:r>
              <a:rPr lang="es-ES_tradnl" sz="2000" b="1" dirty="0"/>
              <a:t>1101</a:t>
            </a:r>
            <a:r>
              <a:rPr lang="es-ES_tradnl" sz="2000" dirty="0"/>
              <a:t>".</a:t>
            </a:r>
          </a:p>
          <a:p>
            <a:endParaRPr lang="es-ES_tradnl" sz="2000" b="1" dirty="0"/>
          </a:p>
        </p:txBody>
      </p:sp>
    </p:spTree>
    <p:extLst>
      <p:ext uri="{BB962C8B-B14F-4D97-AF65-F5344CB8AC3E}">
        <p14:creationId xmlns:p14="http://schemas.microsoft.com/office/powerpoint/2010/main" val="2485285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BDDC7-DD17-7A16-DB99-385A702FF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E3ABA2-D51E-EB2D-D741-4B550090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dirty="0"/>
              <a:t>Base 64</a:t>
            </a:r>
          </a:p>
        </p:txBody>
      </p:sp>
    </p:spTree>
    <p:extLst>
      <p:ext uri="{BB962C8B-B14F-4D97-AF65-F5344CB8AC3E}">
        <p14:creationId xmlns:p14="http://schemas.microsoft.com/office/powerpoint/2010/main" val="2560882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73B85-76AF-3844-70B6-0CC1AB188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64DE9F21-C38D-7F15-BA80-C626FAFD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Base 64</a:t>
            </a:r>
            <a:endParaRPr lang="en-US" dirty="0">
              <a:effectLst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DD183077-3087-9065-8DD2-2A62A0161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 dirty="0"/>
              <a:t>Método utilizado para representar datos binarios de manera segura en sistemas que solo aceptan texto. </a:t>
            </a:r>
          </a:p>
          <a:p>
            <a:r>
              <a:rPr lang="es-ES_tradnl" sz="2000" dirty="0"/>
              <a:t>Esta codificación convierte secuencias de bits en una representación de caracteres ASCII más segura y fácil de manejar.</a:t>
            </a:r>
          </a:p>
        </p:txBody>
      </p:sp>
    </p:spTree>
    <p:extLst>
      <p:ext uri="{BB962C8B-B14F-4D97-AF65-F5344CB8AC3E}">
        <p14:creationId xmlns:p14="http://schemas.microsoft.com/office/powerpoint/2010/main" val="3892139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6C3C-7174-5A49-C8B3-6ECDE6EE9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49467960-5D77-F32B-818A-8222B62E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ffectLst/>
              </a:rPr>
              <a:t>Propiedades</a:t>
            </a:r>
            <a:endParaRPr lang="en-US" dirty="0">
              <a:effectLst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3DB072B9-9DE8-3B5C-6A98-A453C71E5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 dirty="0"/>
              <a:t>Donde se usa</a:t>
            </a:r>
          </a:p>
          <a:p>
            <a:r>
              <a:rPr lang="es-ES_tradnl" sz="2000" dirty="0"/>
              <a:t>Caracteres utilizados</a:t>
            </a:r>
          </a:p>
          <a:p>
            <a:r>
              <a:rPr lang="es-ES_tradnl" sz="2000" dirty="0"/>
              <a:t>Grupo de 6 bits</a:t>
            </a:r>
          </a:p>
          <a:p>
            <a:r>
              <a:rPr lang="es-ES_tradnl" sz="2000" dirty="0"/>
              <a:t>Rellenos con “=“</a:t>
            </a:r>
          </a:p>
          <a:p>
            <a:r>
              <a:rPr lang="es-ES_tradnl" sz="2000" dirty="0"/>
              <a:t>Codificación</a:t>
            </a:r>
          </a:p>
          <a:p>
            <a:r>
              <a:rPr lang="es-ES_tradnl" sz="2000" dirty="0"/>
              <a:t>Decodificación</a:t>
            </a:r>
          </a:p>
          <a:p>
            <a:r>
              <a:rPr lang="es-ES_tradnl" sz="2000" dirty="0"/>
              <a:t>Aplicación</a:t>
            </a:r>
          </a:p>
        </p:txBody>
      </p:sp>
    </p:spTree>
    <p:extLst>
      <p:ext uri="{BB962C8B-B14F-4D97-AF65-F5344CB8AC3E}">
        <p14:creationId xmlns:p14="http://schemas.microsoft.com/office/powerpoint/2010/main" val="1611703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45128-F40D-BDA4-CA77-D5D6472F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16ED625B-9EB8-E6E7-16E2-85F688D71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usa</a:t>
            </a:r>
            <a:endParaRPr lang="en-US" dirty="0">
              <a:effectLst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E925A9C9-EAEC-F1EE-4732-494EB24B0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 dirty="0"/>
              <a:t>La codificación Base64 es comúnmente utilizada en sistemas que manipulan datos binarios, como correos electrónicos y transferencias de archivos, donde solo se permite el uso de caracteres imprimibles.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712231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E9882-6896-89D8-80ED-9B56126C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FC1C65D2-713B-FCF6-07AD-9B27C0CC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 err="1">
                <a:effectLst/>
                <a:latin typeface="Söhne"/>
              </a:rPr>
              <a:t>Caracteres</a:t>
            </a:r>
            <a:r>
              <a:rPr lang="en-US" b="1" i="0" u="none" strike="noStrike" dirty="0">
                <a:effectLst/>
                <a:latin typeface="Söhne"/>
              </a:rPr>
              <a:t> </a:t>
            </a:r>
            <a:r>
              <a:rPr lang="en-US" b="1" i="0" u="none" strike="noStrike" dirty="0" err="1">
                <a:effectLst/>
                <a:latin typeface="Söhne"/>
              </a:rPr>
              <a:t>Utilizados</a:t>
            </a:r>
            <a:endParaRPr lang="en-US" dirty="0">
              <a:effectLst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28793E9B-E2A1-5E7C-FF8E-79865C135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 dirty="0"/>
              <a:t>Base64 utiliza un conjunto de 64 caracteres ASCII, que incluyen letras mayúsculas y minúsculas, números, y dos caracteres adicionales, generalmente el signo igual "=" y algún otro, dependiendo de la implementación específica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4475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C2F20-02CE-D039-6C9D-80F84764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203" name="Rectangle 8202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205" name="Freeform: Shape 8204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207" name="Freeform: Shape 8206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6B49D9BD-E5EC-7481-D9E0-D3310ED19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 err="1">
                <a:effectLst/>
              </a:rPr>
              <a:t>Tabla</a:t>
            </a:r>
            <a:r>
              <a:rPr lang="en-US" sz="4800" b="1" dirty="0">
                <a:effectLst/>
              </a:rPr>
              <a:t> Base 64</a:t>
            </a:r>
            <a:endParaRPr lang="en-US" sz="4800" dirty="0">
              <a:effectLst/>
            </a:endParaRPr>
          </a:p>
        </p:txBody>
      </p:sp>
      <p:sp>
        <p:nvSpPr>
          <p:cNvPr id="8209" name="Rectangle 820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11" name="Rectangle 821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D03723B-22BA-A887-3211-62318778E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38860" y="625684"/>
            <a:ext cx="5159828" cy="5455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40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2DF7B-396B-C613-175F-4C96CE750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AA474011-A49D-4C7A-BF41-0ACD0A269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273" name="Rectangle 11272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61452517-3C71-2D03-5CFA-E8048247C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44332"/>
            <a:ext cx="3538728" cy="1645920"/>
          </a:xfrm>
        </p:spPr>
        <p:txBody>
          <a:bodyPr>
            <a:normAutofit/>
          </a:bodyPr>
          <a:lstStyle/>
          <a:p>
            <a:r>
              <a:rPr lang="en-US" sz="3200" b="1">
                <a:effectLst/>
              </a:rPr>
              <a:t>Grupo de 6 bits</a:t>
            </a:r>
            <a:endParaRPr lang="en-US" sz="3200">
              <a:effectLst/>
            </a:endParaRPr>
          </a:p>
        </p:txBody>
      </p:sp>
      <p:pic>
        <p:nvPicPr>
          <p:cNvPr id="11266" name="Picture 2" descr="What are usual base64 encryption strategies? - Cryptography Stack Exchange">
            <a:extLst>
              <a:ext uri="{FF2B5EF4-FFF2-40B4-BE49-F238E27FC236}">
                <a16:creationId xmlns:a16="http://schemas.microsoft.com/office/drawing/2014/main" id="{A7454D41-D371-4633-E3F4-1D4B4AED1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7784" y="631885"/>
            <a:ext cx="11164824" cy="309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5" name="Rectangle 11274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77" name="Rectangle 11276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525899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ontent Placeholder 49">
                <a:extLst>
                  <a:ext uri="{FF2B5EF4-FFF2-40B4-BE49-F238E27FC236}">
                    <a16:creationId xmlns:a16="http://schemas.microsoft.com/office/drawing/2014/main" id="{77B69605-E047-2B1A-F530-A8A69971F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49240" y="4440602"/>
                <a:ext cx="6007608" cy="1645920"/>
              </a:xfrm>
            </p:spPr>
            <p:txBody>
              <a:bodyPr anchor="ctr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sz="1800"/>
                  <a:t>Base64 toma bloques de 6 bits de datos de entrada y los convierte en un único carácter Base64.</a:t>
                </a:r>
              </a:p>
              <a:p>
                <a:pPr>
                  <a:lnSpc>
                    <a:spcPct val="100000"/>
                  </a:lnSpc>
                </a:pPr>
                <a:r>
                  <a:rPr lang="es-ES_tradnl" sz="1800"/>
                  <a:t>Cada bloque de 6 bits puede representar 64 posibles valores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s-ES_tradnl" sz="1800"/>
                  <a:t> = 64), lo que coincide con la cantidad de caracteres en el conjunto Base64.</a:t>
                </a:r>
              </a:p>
            </p:txBody>
          </p:sp>
        </mc:Choice>
        <mc:Fallback xmlns="">
          <p:sp>
            <p:nvSpPr>
              <p:cNvPr id="50" name="Content Placeholder 49">
                <a:extLst>
                  <a:ext uri="{FF2B5EF4-FFF2-40B4-BE49-F238E27FC236}">
                    <a16:creationId xmlns:a16="http://schemas.microsoft.com/office/drawing/2014/main" id="{77B69605-E047-2B1A-F530-A8A69971F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49240" y="4440602"/>
                <a:ext cx="6007608" cy="1645920"/>
              </a:xfrm>
              <a:blipFill>
                <a:blip r:embed="rId3"/>
                <a:stretch>
                  <a:fillRect l="-633" r="-211" b="-381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9D2FD28-F08E-F6AB-876E-88AD491C34CF}"/>
              </a:ext>
            </a:extLst>
          </p:cNvPr>
          <p:cNvSpPr/>
          <p:nvPr/>
        </p:nvSpPr>
        <p:spPr>
          <a:xfrm>
            <a:off x="3421626" y="1681316"/>
            <a:ext cx="2035277" cy="53094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A4F39B-5C4A-903A-7A0E-DE1637AED02D}"/>
              </a:ext>
            </a:extLst>
          </p:cNvPr>
          <p:cNvSpPr/>
          <p:nvPr/>
        </p:nvSpPr>
        <p:spPr>
          <a:xfrm>
            <a:off x="7467600" y="1700980"/>
            <a:ext cx="2035277" cy="53094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755004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FCFAD-9734-B20B-DF99-95407F52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83" name="Rectangle 11282">
            <a:extLst>
              <a:ext uri="{FF2B5EF4-FFF2-40B4-BE49-F238E27FC236}">
                <a16:creationId xmlns:a16="http://schemas.microsoft.com/office/drawing/2014/main" id="{69A38EBA-6E97-44A4-B4B8-D9FB5D33F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9B663B2-CD2C-3601-FCA1-DDD9CF1E2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502858" cy="1087819"/>
          </a:xfrm>
        </p:spPr>
        <p:txBody>
          <a:bodyPr anchor="b">
            <a:normAutofit/>
          </a:bodyPr>
          <a:lstStyle/>
          <a:p>
            <a:r>
              <a:rPr lang="en-US" sz="3400" b="1" dirty="0" err="1">
                <a:effectLst/>
              </a:rPr>
              <a:t>Codificación</a:t>
            </a:r>
            <a:endParaRPr lang="en-US" sz="3400" dirty="0">
              <a:effectLst/>
            </a:endParaRPr>
          </a:p>
        </p:txBody>
      </p:sp>
      <p:sp>
        <p:nvSpPr>
          <p:cNvPr id="11285" name="!!accent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87" name="Rectangle 11286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4805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01796368-FFFC-73D1-28AF-0D844929D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502858" cy="349286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_tradnl" sz="1700" dirty="0"/>
              <a:t>Convertimos los caracteres a su representación numérica </a:t>
            </a:r>
            <a:r>
              <a:rPr lang="es-ES_tradnl" sz="1700" dirty="0" err="1"/>
              <a:t>Ascii</a:t>
            </a:r>
            <a:endParaRPr lang="es-ES_tradnl" sz="1700" dirty="0"/>
          </a:p>
          <a:p>
            <a:pPr marL="342900" indent="-342900">
              <a:buFont typeface="+mj-lt"/>
              <a:buAutoNum type="arabicPeriod"/>
            </a:pPr>
            <a:r>
              <a:rPr lang="es-ES_tradnl" sz="1700" dirty="0"/>
              <a:t>Convertimos el número </a:t>
            </a:r>
            <a:r>
              <a:rPr lang="es-ES_tradnl" sz="1700" dirty="0" err="1"/>
              <a:t>Ascii</a:t>
            </a:r>
            <a:r>
              <a:rPr lang="es-ES_tradnl" sz="1700" dirty="0"/>
              <a:t> a binario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700" dirty="0"/>
              <a:t>Agrupamos en grupo de 6 bits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700" dirty="0"/>
              <a:t>Convertimos los boques de 6 bits en caracteres Base64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700" dirty="0"/>
              <a:t>Obtenemos el carácter en Base64</a:t>
            </a:r>
          </a:p>
        </p:txBody>
      </p:sp>
      <p:pic>
        <p:nvPicPr>
          <p:cNvPr id="5" name="Picture 2" descr="What is base64 Encoding and Why is it Necessary?">
            <a:extLst>
              <a:ext uri="{FF2B5EF4-FFF2-40B4-BE49-F238E27FC236}">
                <a16:creationId xmlns:a16="http://schemas.microsoft.com/office/drawing/2014/main" id="{5BB8A232-1BFC-6F2E-35BA-5688E9A22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3876" y="625684"/>
            <a:ext cx="4609795" cy="5455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6FD369-463B-882D-AB1E-20C297F8C1C2}"/>
              </a:ext>
            </a:extLst>
          </p:cNvPr>
          <p:cNvSpPr txBox="1"/>
          <p:nvPr/>
        </p:nvSpPr>
        <p:spPr>
          <a:xfrm>
            <a:off x="7459435" y="937697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83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4564A-441F-9C31-BE53-A499A9CD51C7}"/>
              </a:ext>
            </a:extLst>
          </p:cNvPr>
          <p:cNvSpPr txBox="1"/>
          <p:nvPr/>
        </p:nvSpPr>
        <p:spPr>
          <a:xfrm>
            <a:off x="8360676" y="514169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117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C7849D-963B-7404-5AA3-73500C9BC15A}"/>
              </a:ext>
            </a:extLst>
          </p:cNvPr>
          <p:cNvSpPr txBox="1"/>
          <p:nvPr/>
        </p:nvSpPr>
        <p:spPr>
          <a:xfrm>
            <a:off x="9353734" y="937697"/>
            <a:ext cx="71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110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2CBE86-7760-0850-856F-B26BED3B4E9B}"/>
              </a:ext>
            </a:extLst>
          </p:cNvPr>
          <p:cNvSpPr/>
          <p:nvPr/>
        </p:nvSpPr>
        <p:spPr>
          <a:xfrm>
            <a:off x="10650919" y="864266"/>
            <a:ext cx="516193" cy="5161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9AB442F-480E-E5FA-E3BB-E7CFC9538482}"/>
              </a:ext>
            </a:extLst>
          </p:cNvPr>
          <p:cNvSpPr/>
          <p:nvPr/>
        </p:nvSpPr>
        <p:spPr>
          <a:xfrm>
            <a:off x="10660689" y="1635016"/>
            <a:ext cx="516193" cy="5161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571B2F8-6249-C012-8B26-AE8FAE3CC299}"/>
              </a:ext>
            </a:extLst>
          </p:cNvPr>
          <p:cNvSpPr/>
          <p:nvPr/>
        </p:nvSpPr>
        <p:spPr>
          <a:xfrm>
            <a:off x="10660689" y="3472371"/>
            <a:ext cx="516193" cy="5161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0B7309-B1AF-9244-0121-9070607D2A6C}"/>
              </a:ext>
            </a:extLst>
          </p:cNvPr>
          <p:cNvSpPr/>
          <p:nvPr/>
        </p:nvSpPr>
        <p:spPr>
          <a:xfrm>
            <a:off x="10665574" y="4302418"/>
            <a:ext cx="516193" cy="5161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4D440D-E973-2FE4-12EC-7F393E9AB0CC}"/>
              </a:ext>
            </a:extLst>
          </p:cNvPr>
          <p:cNvSpPr/>
          <p:nvPr/>
        </p:nvSpPr>
        <p:spPr>
          <a:xfrm>
            <a:off x="10663272" y="5244232"/>
            <a:ext cx="516193" cy="5161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2C65B7-7456-418F-96A0-22799A3C0572}"/>
              </a:ext>
            </a:extLst>
          </p:cNvPr>
          <p:cNvSpPr txBox="1"/>
          <p:nvPr/>
        </p:nvSpPr>
        <p:spPr>
          <a:xfrm>
            <a:off x="7043232" y="4061197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21950F-F099-16D3-9F9F-9C5C8F232E62}"/>
              </a:ext>
            </a:extLst>
          </p:cNvPr>
          <p:cNvSpPr txBox="1"/>
          <p:nvPr/>
        </p:nvSpPr>
        <p:spPr>
          <a:xfrm>
            <a:off x="7973532" y="4059525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55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D3DF25-B761-EA69-C4EC-5782AB1829FF}"/>
              </a:ext>
            </a:extLst>
          </p:cNvPr>
          <p:cNvSpPr txBox="1"/>
          <p:nvPr/>
        </p:nvSpPr>
        <p:spPr>
          <a:xfrm>
            <a:off x="8824132" y="4059525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914BFD-C5A4-DC71-0C07-B0D146054D87}"/>
              </a:ext>
            </a:extLst>
          </p:cNvPr>
          <p:cNvSpPr txBox="1"/>
          <p:nvPr/>
        </p:nvSpPr>
        <p:spPr>
          <a:xfrm>
            <a:off x="9655341" y="4059525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112667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FCF68-E28D-413F-AAC7-0AFC014C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83" name="Rectangle 11282">
            <a:extLst>
              <a:ext uri="{FF2B5EF4-FFF2-40B4-BE49-F238E27FC236}">
                <a16:creationId xmlns:a16="http://schemas.microsoft.com/office/drawing/2014/main" id="{9E578D60-7F73-3982-78BF-04CD5719A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65DBD2BD-A569-5138-D20C-8ABB2F740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502858" cy="1087819"/>
          </a:xfrm>
        </p:spPr>
        <p:txBody>
          <a:bodyPr anchor="b">
            <a:normAutofit/>
          </a:bodyPr>
          <a:lstStyle/>
          <a:p>
            <a:r>
              <a:rPr lang="en-US" sz="3400" b="1" dirty="0" err="1">
                <a:effectLst/>
              </a:rPr>
              <a:t>Decodificación</a:t>
            </a:r>
            <a:endParaRPr lang="en-US" sz="3400" dirty="0">
              <a:effectLst/>
            </a:endParaRPr>
          </a:p>
        </p:txBody>
      </p:sp>
      <p:sp>
        <p:nvSpPr>
          <p:cNvPr id="11285" name="!!accent">
            <a:extLst>
              <a:ext uri="{FF2B5EF4-FFF2-40B4-BE49-F238E27FC236}">
                <a16:creationId xmlns:a16="http://schemas.microsoft.com/office/drawing/2014/main" id="{2FA863CC-ABF8-BD43-ACA7-6C5A8DE61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87" name="Rectangle 11286">
            <a:extLst>
              <a:ext uri="{FF2B5EF4-FFF2-40B4-BE49-F238E27FC236}">
                <a16:creationId xmlns:a16="http://schemas.microsoft.com/office/drawing/2014/main" id="{843EECDD-9ABC-6415-B2E4-DFE40E371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4805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5A71BCB1-EE79-6399-8219-BC5A42FB2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502858" cy="349286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_tradnl" sz="1700" dirty="0"/>
              <a:t>Obtenemos el índice del carácter en Base64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700" dirty="0"/>
              <a:t>Convertimos la índice base binaria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700" dirty="0"/>
              <a:t>Completamos con </a:t>
            </a:r>
            <a:r>
              <a:rPr lang="es-ES_tradnl" sz="1700" dirty="0">
                <a:solidFill>
                  <a:schemeClr val="accent1"/>
                </a:solidFill>
              </a:rPr>
              <a:t>0 </a:t>
            </a:r>
            <a:r>
              <a:rPr lang="es-ES_tradnl" sz="1700" dirty="0"/>
              <a:t>a la izquierda para formar los grupos de 6 bits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700" dirty="0"/>
              <a:t>Agrupamos en grupo de 8 bits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700" dirty="0"/>
              <a:t>Convertimos los boques de 8 bits en caracteres Base Decimal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700" dirty="0"/>
              <a:t>Obtenemos el carácter en Base Decimal del código </a:t>
            </a:r>
            <a:r>
              <a:rPr lang="es-ES_tradnl" sz="1700" dirty="0" err="1"/>
              <a:t>Ascii</a:t>
            </a:r>
            <a:endParaRPr lang="es-ES_tradnl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D90654-0635-196A-37BB-ABC83DC48DCA}"/>
              </a:ext>
            </a:extLst>
          </p:cNvPr>
          <p:cNvSpPr txBox="1"/>
          <p:nvPr/>
        </p:nvSpPr>
        <p:spPr>
          <a:xfrm>
            <a:off x="7326275" y="3860682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83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04F41-2D84-2796-06CB-64F1FD5866CC}"/>
              </a:ext>
            </a:extLst>
          </p:cNvPr>
          <p:cNvSpPr txBox="1"/>
          <p:nvPr/>
        </p:nvSpPr>
        <p:spPr>
          <a:xfrm>
            <a:off x="8313436" y="3860682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117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3CEA4-A782-2BB4-D0B9-4C7C738EE83A}"/>
              </a:ext>
            </a:extLst>
          </p:cNvPr>
          <p:cNvSpPr txBox="1"/>
          <p:nvPr/>
        </p:nvSpPr>
        <p:spPr>
          <a:xfrm>
            <a:off x="9300597" y="3845909"/>
            <a:ext cx="71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110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39873E-C05D-531C-55F0-BA4974197CE0}"/>
              </a:ext>
            </a:extLst>
          </p:cNvPr>
          <p:cNvSpPr/>
          <p:nvPr/>
        </p:nvSpPr>
        <p:spPr>
          <a:xfrm>
            <a:off x="10650918" y="1014756"/>
            <a:ext cx="516193" cy="5161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6B237ED-BBA2-5FBD-1B8C-079F5AC6D42B}"/>
              </a:ext>
            </a:extLst>
          </p:cNvPr>
          <p:cNvSpPr/>
          <p:nvPr/>
        </p:nvSpPr>
        <p:spPr>
          <a:xfrm>
            <a:off x="10650917" y="1885552"/>
            <a:ext cx="516193" cy="5161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5A868A-5D0F-84F7-30E2-A74F24A85474}"/>
              </a:ext>
            </a:extLst>
          </p:cNvPr>
          <p:cNvSpPr/>
          <p:nvPr/>
        </p:nvSpPr>
        <p:spPr>
          <a:xfrm>
            <a:off x="10650917" y="2713960"/>
            <a:ext cx="516193" cy="5161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19B394-891D-4A8D-4715-5E4C10844535}"/>
              </a:ext>
            </a:extLst>
          </p:cNvPr>
          <p:cNvSpPr/>
          <p:nvPr/>
        </p:nvSpPr>
        <p:spPr>
          <a:xfrm>
            <a:off x="10650917" y="3474340"/>
            <a:ext cx="516193" cy="5161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16F67E-FD4D-EBC0-B8F2-D64DBC8BBCBF}"/>
              </a:ext>
            </a:extLst>
          </p:cNvPr>
          <p:cNvSpPr/>
          <p:nvPr/>
        </p:nvSpPr>
        <p:spPr>
          <a:xfrm>
            <a:off x="10650917" y="4380411"/>
            <a:ext cx="516193" cy="5161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DD7646-1353-8EC3-4EE9-A9FAF49CCBC7}"/>
              </a:ext>
            </a:extLst>
          </p:cNvPr>
          <p:cNvSpPr txBox="1"/>
          <p:nvPr/>
        </p:nvSpPr>
        <p:spPr>
          <a:xfrm>
            <a:off x="7042120" y="858066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64F790-2248-69AD-6EDB-11A84EFD6B86}"/>
              </a:ext>
            </a:extLst>
          </p:cNvPr>
          <p:cNvSpPr txBox="1"/>
          <p:nvPr/>
        </p:nvSpPr>
        <p:spPr>
          <a:xfrm>
            <a:off x="7937142" y="858066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55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1FE9D-17BC-8D8D-AE87-DEEDF1FEAF2A}"/>
              </a:ext>
            </a:extLst>
          </p:cNvPr>
          <p:cNvSpPr txBox="1"/>
          <p:nvPr/>
        </p:nvSpPr>
        <p:spPr>
          <a:xfrm>
            <a:off x="8829629" y="858066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137C04-A237-EE24-33D5-92BDEB0CBC58}"/>
              </a:ext>
            </a:extLst>
          </p:cNvPr>
          <p:cNvSpPr txBox="1"/>
          <p:nvPr/>
        </p:nvSpPr>
        <p:spPr>
          <a:xfrm>
            <a:off x="9722116" y="858066"/>
            <a:ext cx="516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FF00"/>
                </a:highlight>
              </a:rPr>
              <a:t>46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06C96F-967A-3D98-6445-0385F400D9AC}"/>
              </a:ext>
            </a:extLst>
          </p:cNvPr>
          <p:cNvSpPr txBox="1"/>
          <p:nvPr/>
        </p:nvSpPr>
        <p:spPr>
          <a:xfrm>
            <a:off x="7046951" y="1307029"/>
            <a:ext cx="3157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FF00FF"/>
                </a:highlight>
              </a:rPr>
              <a:t>U 	3	V	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2980E-04F1-2A28-FEEC-A0502B10CA80}"/>
              </a:ext>
            </a:extLst>
          </p:cNvPr>
          <p:cNvSpPr txBox="1"/>
          <p:nvPr/>
        </p:nvSpPr>
        <p:spPr>
          <a:xfrm>
            <a:off x="7713565" y="2029026"/>
            <a:ext cx="997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110111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A7B7F-84BD-6752-53F6-D1CE35AA1998}"/>
              </a:ext>
            </a:extLst>
          </p:cNvPr>
          <p:cNvSpPr txBox="1"/>
          <p:nvPr/>
        </p:nvSpPr>
        <p:spPr>
          <a:xfrm>
            <a:off x="6577781" y="2029026"/>
            <a:ext cx="1118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10100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C9D71-8605-D59C-A7A6-A5FF2B988507}"/>
              </a:ext>
            </a:extLst>
          </p:cNvPr>
          <p:cNvSpPr txBox="1"/>
          <p:nvPr/>
        </p:nvSpPr>
        <p:spPr>
          <a:xfrm>
            <a:off x="8662278" y="2032107"/>
            <a:ext cx="997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10101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FFA06A-BE32-7165-7DCA-37D62E106DD8}"/>
              </a:ext>
            </a:extLst>
          </p:cNvPr>
          <p:cNvSpPr txBox="1"/>
          <p:nvPr/>
        </p:nvSpPr>
        <p:spPr>
          <a:xfrm>
            <a:off x="9640664" y="2029026"/>
            <a:ext cx="997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101110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F1A33A-8BB6-5072-18C6-FA9EC0BA1539}"/>
              </a:ext>
            </a:extLst>
          </p:cNvPr>
          <p:cNvSpPr txBox="1"/>
          <p:nvPr/>
        </p:nvSpPr>
        <p:spPr>
          <a:xfrm>
            <a:off x="6901042" y="3401774"/>
            <a:ext cx="352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accent1"/>
                </a:solidFill>
              </a:rPr>
              <a:t>01010011 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01110101</a:t>
            </a:r>
            <a:r>
              <a:rPr lang="es-ES_tradnl" b="1" dirty="0">
                <a:solidFill>
                  <a:schemeClr val="accent1"/>
                </a:solidFill>
              </a:rPr>
              <a:t> 01101110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E2B053-B3EE-F3AD-0DC1-17F96D894DBC}"/>
              </a:ext>
            </a:extLst>
          </p:cNvPr>
          <p:cNvSpPr txBox="1"/>
          <p:nvPr/>
        </p:nvSpPr>
        <p:spPr>
          <a:xfrm>
            <a:off x="7713565" y="2802203"/>
            <a:ext cx="997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110111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A7B20F-EFC9-106F-76C9-27C93A86A395}"/>
              </a:ext>
            </a:extLst>
          </p:cNvPr>
          <p:cNvSpPr txBox="1"/>
          <p:nvPr/>
        </p:nvSpPr>
        <p:spPr>
          <a:xfrm>
            <a:off x="6577781" y="2802203"/>
            <a:ext cx="1118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accent1"/>
                </a:solidFill>
              </a:rPr>
              <a:t>0</a:t>
            </a:r>
            <a:r>
              <a:rPr lang="es-ES_tradnl" b="1" dirty="0"/>
              <a:t>10100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D6530F-532E-4376-CD50-E97CB8B2FB1A}"/>
              </a:ext>
            </a:extLst>
          </p:cNvPr>
          <p:cNvSpPr txBox="1"/>
          <p:nvPr/>
        </p:nvSpPr>
        <p:spPr>
          <a:xfrm>
            <a:off x="8662278" y="2805284"/>
            <a:ext cx="997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accent1"/>
                </a:solidFill>
              </a:rPr>
              <a:t>0</a:t>
            </a:r>
            <a:r>
              <a:rPr lang="es-ES_tradnl" b="1" dirty="0"/>
              <a:t>10101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AD715F-2778-F29A-B887-E0FFCDEF3CEC}"/>
              </a:ext>
            </a:extLst>
          </p:cNvPr>
          <p:cNvSpPr txBox="1"/>
          <p:nvPr/>
        </p:nvSpPr>
        <p:spPr>
          <a:xfrm>
            <a:off x="9640664" y="2802203"/>
            <a:ext cx="997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101110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3272A6-B632-B28A-76C4-94FFABE8F2BD}"/>
              </a:ext>
            </a:extLst>
          </p:cNvPr>
          <p:cNvSpPr txBox="1"/>
          <p:nvPr/>
        </p:nvSpPr>
        <p:spPr>
          <a:xfrm>
            <a:off x="7511335" y="4460769"/>
            <a:ext cx="2399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highlight>
                  <a:srgbClr val="00FF00"/>
                </a:highlight>
              </a:rPr>
              <a:t>S	U	N</a:t>
            </a:r>
          </a:p>
        </p:txBody>
      </p:sp>
    </p:spTree>
    <p:extLst>
      <p:ext uri="{BB962C8B-B14F-4D97-AF65-F5344CB8AC3E}">
        <p14:creationId xmlns:p14="http://schemas.microsoft.com/office/powerpoint/2010/main" val="2145161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A26C1-09CE-F891-A1ED-45583E73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D7A68D-4B3A-2096-F131-65C5343A3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dirty="0"/>
              <a:t>XOR</a:t>
            </a:r>
          </a:p>
        </p:txBody>
      </p:sp>
    </p:spTree>
    <p:extLst>
      <p:ext uri="{BB962C8B-B14F-4D97-AF65-F5344CB8AC3E}">
        <p14:creationId xmlns:p14="http://schemas.microsoft.com/office/powerpoint/2010/main" val="1325839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0CA6E-DCCF-7530-9EE8-6273436D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994FADA8-8EBA-70F2-39B2-2BA83532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XOR</a:t>
            </a:r>
            <a:endParaRPr lang="en-US" dirty="0">
              <a:effectLst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93A32C53-4641-A649-7BF2-66D32DD43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6" y="2622604"/>
            <a:ext cx="9637439" cy="3473395"/>
          </a:xfrm>
        </p:spPr>
        <p:txBody>
          <a:bodyPr>
            <a:normAutofit/>
          </a:bodyPr>
          <a:lstStyle/>
          <a:p>
            <a:r>
              <a:rPr lang="es-ES_tradnl" sz="2000" dirty="0"/>
              <a:t>La operación XOR, también conocida como exclusión lógica, es una operación fundamental en lógica booleana y es ampliamente utilizada en criptografía y circuitos digitales</a:t>
            </a:r>
          </a:p>
          <a:p>
            <a:r>
              <a:rPr lang="es-ES_tradnl" sz="2000" dirty="0"/>
              <a:t>XOR devuelve verdadero (1) cuando el número de entradas verdaderas (1) es impar y falso (0) cuando el número de entradas verdaderas es par.</a:t>
            </a:r>
          </a:p>
          <a:p>
            <a:r>
              <a:rPr lang="es-ES_tradnl" sz="2000" dirty="0"/>
              <a:t>En otras palabras, La salida es verdadera (1) si las entradas son diferentes y falsa (0) si son iguales.</a:t>
            </a:r>
          </a:p>
          <a:p>
            <a:r>
              <a:rPr lang="es-ES_tradnl" sz="2000" dirty="0"/>
              <a:t>Su símbolo matemático es </a:t>
            </a:r>
            <a:r>
              <a:rPr lang="en-GT" sz="1600" b="1" i="0" u="none" strike="noStrike" dirty="0">
                <a:effectLst/>
                <a:latin typeface="Söhne"/>
              </a:rPr>
              <a:t>⊕</a:t>
            </a:r>
            <a:endParaRPr lang="es-ES_tradnl" sz="2000" b="1" dirty="0"/>
          </a:p>
        </p:txBody>
      </p:sp>
    </p:spTree>
    <p:extLst>
      <p:ext uri="{BB962C8B-B14F-4D97-AF65-F5344CB8AC3E}">
        <p14:creationId xmlns:p14="http://schemas.microsoft.com/office/powerpoint/2010/main" val="3996587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42B0C-48DB-3BF9-DF43-37D29303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3" name="Rectangle 1639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95" name="Rectangle 1639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397" name="Rectangle 16396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399" name="Rectangle 16398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39F5ACC1-E5FB-80D7-2E0E-1A42D827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effectLst/>
              </a:rPr>
              <a:t>Tabla</a:t>
            </a:r>
            <a:r>
              <a:rPr lang="en-US" b="1" dirty="0">
                <a:effectLst/>
              </a:rPr>
              <a:t> de </a:t>
            </a:r>
            <a:r>
              <a:rPr lang="en-US" b="1">
                <a:effectLst/>
              </a:rPr>
              <a:t>verdad</a:t>
            </a:r>
            <a:r>
              <a:rPr lang="en-US" b="1" dirty="0">
                <a:effectLst/>
              </a:rPr>
              <a:t> XOR</a:t>
            </a:r>
            <a:endParaRPr lang="en-US" dirty="0">
              <a:effectLst/>
            </a:endParaRPr>
          </a:p>
        </p:txBody>
      </p:sp>
      <p:sp>
        <p:nvSpPr>
          <p:cNvPr id="16401" name="Rectangle 16400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403" name="Rectangle 16402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388" name="Picture 4" descr="Compuertas lógicas - Cienciayt">
            <a:extLst>
              <a:ext uri="{FF2B5EF4-FFF2-40B4-BE49-F238E27FC236}">
                <a16:creationId xmlns:a16="http://schemas.microsoft.com/office/drawing/2014/main" id="{D5B76C45-7E79-CBF9-B3AE-6D1559CB4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0966" y="2091095"/>
            <a:ext cx="8393532" cy="420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608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A992A-3E15-0DA0-501D-E86E51A3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59" name="Rectangle 1845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461" name="Rectangle 1846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898DBA6E-6578-7311-0128-863DF492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538728" cy="1645920"/>
          </a:xfrm>
        </p:spPr>
        <p:txBody>
          <a:bodyPr>
            <a:normAutofit/>
          </a:bodyPr>
          <a:lstStyle/>
          <a:p>
            <a:r>
              <a:rPr lang="en-US" sz="3200" b="1">
                <a:effectLst/>
              </a:rPr>
              <a:t>XOR en Criptografía</a:t>
            </a:r>
            <a:endParaRPr lang="en-US" sz="3200">
              <a:effectLst/>
            </a:endParaRPr>
          </a:p>
        </p:txBody>
      </p:sp>
      <p:sp>
        <p:nvSpPr>
          <p:cNvPr id="18463" name="Rectangle 1846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65" name="Rectangle 1846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140521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E5A61E74-CECA-0A4F-4674-CCABA0D06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9240" y="586822"/>
            <a:ext cx="6007608" cy="1645920"/>
          </a:xfrm>
        </p:spPr>
        <p:txBody>
          <a:bodyPr anchor="ctr">
            <a:normAutofit/>
          </a:bodyPr>
          <a:lstStyle/>
          <a:p>
            <a:r>
              <a:rPr lang="es-ES_tradnl" sz="1800"/>
              <a:t>XOR se utiliza en muchos algoritmos criptográficos para mezclar bits y proporcionar propiedades de </a:t>
            </a:r>
            <a:r>
              <a:rPr lang="es-ES_tradnl" sz="1800" b="1"/>
              <a:t>confusión</a:t>
            </a:r>
            <a:r>
              <a:rPr lang="es-ES_tradnl" sz="1800"/>
              <a:t> y </a:t>
            </a:r>
            <a:r>
              <a:rPr lang="es-ES_tradnl" sz="1800" b="1"/>
              <a:t>difusión</a:t>
            </a:r>
            <a:r>
              <a:rPr lang="es-ES_tradnl" sz="1800"/>
              <a:t>.</a:t>
            </a:r>
            <a:endParaRPr lang="es-ES_tradnl" sz="1800" b="1"/>
          </a:p>
        </p:txBody>
      </p:sp>
      <p:pic>
        <p:nvPicPr>
          <p:cNvPr id="18436" name="Picture 4" descr="El cifrado XOR. Entendiendo las operaciones con bits | by Gabriel Martí |  Medium">
            <a:extLst>
              <a:ext uri="{FF2B5EF4-FFF2-40B4-BE49-F238E27FC236}">
                <a16:creationId xmlns:a16="http://schemas.microsoft.com/office/drawing/2014/main" id="{E170A141-4251-5383-BA0B-B7BCCB1C5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7783" y="2909099"/>
            <a:ext cx="5481509" cy="312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El cifrado XOR. Entendiendo las operaciones con bits | by Gabriel Martí |  Medium">
            <a:extLst>
              <a:ext uri="{FF2B5EF4-FFF2-40B4-BE49-F238E27FC236}">
                <a16:creationId xmlns:a16="http://schemas.microsoft.com/office/drawing/2014/main" id="{C985F05B-ABCB-B27F-DA99-33A5BBFA3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8781" y="3380636"/>
            <a:ext cx="5523082" cy="2181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535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5925F0-5B94-EC97-E861-106B1586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39" name="Rectangle 18438">
            <a:extLst>
              <a:ext uri="{FF2B5EF4-FFF2-40B4-BE49-F238E27FC236}">
                <a16:creationId xmlns:a16="http://schemas.microsoft.com/office/drawing/2014/main" id="{810813D5-7E6B-97D5-7B60-955EE162D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441" name="Rectangle 18440">
            <a:extLst>
              <a:ext uri="{FF2B5EF4-FFF2-40B4-BE49-F238E27FC236}">
                <a16:creationId xmlns:a16="http://schemas.microsoft.com/office/drawing/2014/main" id="{45D368FD-FAE3-6DC8-C330-E1C18A0B8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B4CE126D-B813-1E7E-726A-583EC1792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37285" cy="1645920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/>
              </a:rPr>
              <a:t>XOR </a:t>
            </a:r>
            <a:r>
              <a:rPr lang="en-US" sz="3200" b="1" dirty="0" err="1">
                <a:effectLst/>
              </a:rPr>
              <a:t>en</a:t>
            </a:r>
            <a:r>
              <a:rPr lang="en-US" sz="3200" b="1" dirty="0">
                <a:effectLst/>
              </a:rPr>
              <a:t> </a:t>
            </a:r>
            <a:r>
              <a:rPr lang="en-US" sz="3200" b="1" dirty="0" err="1">
                <a:effectLst/>
              </a:rPr>
              <a:t>Criptografía</a:t>
            </a:r>
            <a:endParaRPr lang="en-US" sz="3200" dirty="0">
              <a:effectLst/>
            </a:endParaRPr>
          </a:p>
        </p:txBody>
      </p:sp>
      <p:sp>
        <p:nvSpPr>
          <p:cNvPr id="18443" name="Rectangle 18442">
            <a:extLst>
              <a:ext uri="{FF2B5EF4-FFF2-40B4-BE49-F238E27FC236}">
                <a16:creationId xmlns:a16="http://schemas.microsoft.com/office/drawing/2014/main" id="{301C5BC9-6939-813A-1FE4-91C7DBC0D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45" name="Rectangle 18444">
            <a:extLst>
              <a:ext uri="{FF2B5EF4-FFF2-40B4-BE49-F238E27FC236}">
                <a16:creationId xmlns:a16="http://schemas.microsoft.com/office/drawing/2014/main" id="{FA0EDA00-5944-53ED-A93A-232F818AB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140521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C07426BD-8701-317E-B2E4-44833BA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s-ES_tradnl" sz="1800" dirty="0"/>
              <a:t>fragmento del malware </a:t>
            </a:r>
            <a:r>
              <a:rPr lang="es-ES_tradnl" sz="1800" dirty="0" err="1"/>
              <a:t>Turla</a:t>
            </a:r>
            <a:r>
              <a:rPr lang="es-ES_tradnl" sz="1800" dirty="0"/>
              <a:t> </a:t>
            </a:r>
            <a:r>
              <a:rPr lang="es-ES_tradnl" sz="1800" dirty="0" err="1"/>
              <a:t>Keylogger</a:t>
            </a:r>
            <a:r>
              <a:rPr lang="es-ES_tradnl" sz="1800" dirty="0"/>
              <a:t> el cual ocultaba los nombres de las funciones con un cifrado XOR con el valor 55 </a:t>
            </a:r>
            <a:r>
              <a:rPr lang="es-ES_tradnl" sz="1800" dirty="0" err="1"/>
              <a:t>hex</a:t>
            </a:r>
            <a:endParaRPr lang="es-ES_tradnl" sz="1800" b="1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D1BF85C2-DFFB-8314-CB21-1FBFCB43A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2272" y="2734056"/>
            <a:ext cx="9415848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94364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{D6E6C100-B9F1-584F-ABF7-1E8BF04C5F2A}tf16401378</Template>
  <TotalTime>294</TotalTime>
  <Words>1074</Words>
  <Application>Microsoft Macintosh PowerPoint</Application>
  <PresentationFormat>Widescreen</PresentationFormat>
  <Paragraphs>178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Cambria Math</vt:lpstr>
      <vt:lpstr>Helvetica</vt:lpstr>
      <vt:lpstr>Neue Haas Grotesk Text Pro</vt:lpstr>
      <vt:lpstr>Söhne</vt:lpstr>
      <vt:lpstr>AccentBoxVTI</vt:lpstr>
      <vt:lpstr>Criptografía</vt:lpstr>
      <vt:lpstr>Agenda</vt:lpstr>
      <vt:lpstr>Crypto Sistema</vt:lpstr>
      <vt:lpstr>Cryptosystem</vt:lpstr>
      <vt:lpstr>Cryptosystem</vt:lpstr>
      <vt:lpstr>Lógica Booleana</vt:lpstr>
      <vt:lpstr>Lógica Booleana</vt:lpstr>
      <vt:lpstr>One-time Pad (OTP)</vt:lpstr>
      <vt:lpstr>OTP</vt:lpstr>
      <vt:lpstr>Ejemplo OTP</vt:lpstr>
      <vt:lpstr>OTP</vt:lpstr>
      <vt:lpstr>OTP</vt:lpstr>
      <vt:lpstr>Representación binaria</vt:lpstr>
      <vt:lpstr>Representación Binaria</vt:lpstr>
      <vt:lpstr>Bit..</vt:lpstr>
      <vt:lpstr>Bits y Bytes</vt:lpstr>
      <vt:lpstr>Tabla Ascii</vt:lpstr>
      <vt:lpstr>Sistema de Numeración Binario</vt:lpstr>
      <vt:lpstr>Conversión de Decimal a Binario:</vt:lpstr>
      <vt:lpstr>Base 64</vt:lpstr>
      <vt:lpstr>Base 64</vt:lpstr>
      <vt:lpstr>Propiedades</vt:lpstr>
      <vt:lpstr>Donde se usa</vt:lpstr>
      <vt:lpstr>Caracteres Utilizados</vt:lpstr>
      <vt:lpstr>Tabla Base 64</vt:lpstr>
      <vt:lpstr>Grupo de 6 bits</vt:lpstr>
      <vt:lpstr>Codificación</vt:lpstr>
      <vt:lpstr>Decodificación</vt:lpstr>
      <vt:lpstr>XOR</vt:lpstr>
      <vt:lpstr>XOR</vt:lpstr>
      <vt:lpstr>Tabla de verdad XOR</vt:lpstr>
      <vt:lpstr>XOR en Criptografía</vt:lpstr>
      <vt:lpstr>XOR en Criptografía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Criptografía y Cifrado de Información</dc:title>
  <dc:creator>Ludwing Cano</dc:creator>
  <cp:lastModifiedBy>CANO  FUENTES, LUDWING OTTONIEL</cp:lastModifiedBy>
  <cp:revision>6</cp:revision>
  <dcterms:created xsi:type="dcterms:W3CDTF">2023-11-09T05:13:32Z</dcterms:created>
  <dcterms:modified xsi:type="dcterms:W3CDTF">2025-01-20T02:27:35Z</dcterms:modified>
</cp:coreProperties>
</file>